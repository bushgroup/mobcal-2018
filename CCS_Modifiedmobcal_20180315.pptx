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9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98D62F-C8D4-4E37-B88D-C55F27905B6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7F577E55-9DF8-4CF2-91FD-54C494CA883E}">
      <dgm:prSet phldrT="[텍스트]"/>
      <dgm:spPr>
        <a:solidFill>
          <a:schemeClr val="accent2"/>
        </a:solidFill>
        <a:ln>
          <a:noFill/>
        </a:ln>
      </dgm:spPr>
      <dgm:t>
        <a:bodyPr/>
        <a:lstStyle/>
        <a:p>
          <a:pPr latinLnBrk="1"/>
          <a:r>
            <a:rPr lang="en-US" altLang="ko-KR" b="1" dirty="0" smtClean="0">
              <a:solidFill>
                <a:schemeClr val="tx1"/>
              </a:solidFill>
            </a:rPr>
            <a:t>atomic coordinates and charges</a:t>
          </a:r>
          <a:endParaRPr lang="ko-KR" altLang="en-US" b="1" dirty="0">
            <a:solidFill>
              <a:schemeClr val="tx1"/>
            </a:solidFill>
          </a:endParaRPr>
        </a:p>
      </dgm:t>
    </dgm:pt>
    <dgm:pt modelId="{E48008D3-4DFD-465D-8EB5-D740CD423B32}" type="parTrans" cxnId="{CD144765-F257-491A-88BB-436DE7086587}">
      <dgm:prSet/>
      <dgm:spPr/>
      <dgm:t>
        <a:bodyPr/>
        <a:lstStyle/>
        <a:p>
          <a:pPr latinLnBrk="1"/>
          <a:endParaRPr lang="ko-KR" altLang="en-US"/>
        </a:p>
      </dgm:t>
    </dgm:pt>
    <dgm:pt modelId="{E453BDF2-C48E-45DA-AD80-C1F0F1093E0E}" type="sibTrans" cxnId="{CD144765-F257-491A-88BB-436DE7086587}">
      <dgm:prSet/>
      <dgm:spPr/>
      <dgm:t>
        <a:bodyPr/>
        <a:lstStyle/>
        <a:p>
          <a:pPr latinLnBrk="1"/>
          <a:endParaRPr lang="ko-KR" altLang="en-US"/>
        </a:p>
      </dgm:t>
    </dgm:pt>
    <dgm:pt modelId="{E0C6CABF-2778-4AE1-A6C8-F9ACB0A565AC}">
      <dgm:prSet phldrT="[텍스트]"/>
      <dgm:spPr>
        <a:solidFill>
          <a:schemeClr val="accent2"/>
        </a:solidFill>
        <a:ln>
          <a:noFill/>
        </a:ln>
      </dgm:spPr>
      <dgm:t>
        <a:bodyPr/>
        <a:lstStyle/>
        <a:p>
          <a:pPr latinLnBrk="1"/>
          <a:r>
            <a:rPr lang="en-US" altLang="ko-KR" b="1" dirty="0" smtClean="0">
              <a:solidFill>
                <a:schemeClr val="tx1"/>
              </a:solidFill>
            </a:rPr>
            <a:t>generate .</a:t>
          </a:r>
          <a:r>
            <a:rPr lang="en-US" altLang="ko-KR" b="1" dirty="0" err="1" smtClean="0">
              <a:solidFill>
                <a:schemeClr val="tx1"/>
              </a:solidFill>
            </a:rPr>
            <a:t>sdf</a:t>
          </a:r>
          <a:r>
            <a:rPr lang="en-US" altLang="ko-KR" b="1" dirty="0" smtClean="0">
              <a:solidFill>
                <a:schemeClr val="tx1"/>
              </a:solidFill>
            </a:rPr>
            <a:t> file</a:t>
          </a:r>
          <a:endParaRPr lang="ko-KR" altLang="en-US" b="1" dirty="0">
            <a:solidFill>
              <a:schemeClr val="tx1"/>
            </a:solidFill>
          </a:endParaRPr>
        </a:p>
      </dgm:t>
    </dgm:pt>
    <dgm:pt modelId="{D8348CC7-DD85-49EC-B20A-2E0776EB3DC3}" type="parTrans" cxnId="{C012E305-ADA7-4A00-90A6-C8F81DAEABC8}">
      <dgm:prSet/>
      <dgm:spPr/>
      <dgm:t>
        <a:bodyPr/>
        <a:lstStyle/>
        <a:p>
          <a:pPr latinLnBrk="1"/>
          <a:endParaRPr lang="ko-KR" altLang="en-US"/>
        </a:p>
      </dgm:t>
    </dgm:pt>
    <dgm:pt modelId="{57D2A8BC-051A-4B65-AA2B-52ACF5C8238D}" type="sibTrans" cxnId="{C012E305-ADA7-4A00-90A6-C8F81DAEABC8}">
      <dgm:prSet/>
      <dgm:spPr/>
      <dgm:t>
        <a:bodyPr/>
        <a:lstStyle/>
        <a:p>
          <a:pPr latinLnBrk="1"/>
          <a:endParaRPr lang="ko-KR" altLang="en-US"/>
        </a:p>
      </dgm:t>
    </dgm:pt>
    <dgm:pt modelId="{2D4DECF0-EB0E-47C5-B41F-BA661EB16DA5}">
      <dgm:prSet phldrT="[텍스트]"/>
      <dgm:spPr>
        <a:solidFill>
          <a:schemeClr val="accent2"/>
        </a:solidFill>
        <a:ln>
          <a:noFill/>
        </a:ln>
      </dgm:spPr>
      <dgm:t>
        <a:bodyPr/>
        <a:lstStyle/>
        <a:p>
          <a:pPr latinLnBrk="1"/>
          <a:r>
            <a:rPr lang="en-US" altLang="ko-KR" b="1" dirty="0" smtClean="0">
              <a:solidFill>
                <a:schemeClr val="tx1"/>
              </a:solidFill>
            </a:rPr>
            <a:t>generate .xyz and .key file</a:t>
          </a:r>
        </a:p>
      </dgm:t>
    </dgm:pt>
    <dgm:pt modelId="{658EE484-CFFA-4C5A-AD25-C276F2869FEE}" type="parTrans" cxnId="{F4E6D237-43EF-44A4-BBCA-21FA23CC9E2C}">
      <dgm:prSet/>
      <dgm:spPr/>
      <dgm:t>
        <a:bodyPr/>
        <a:lstStyle/>
        <a:p>
          <a:pPr latinLnBrk="1"/>
          <a:endParaRPr lang="ko-KR" altLang="en-US"/>
        </a:p>
      </dgm:t>
    </dgm:pt>
    <dgm:pt modelId="{D010D98D-E03B-49F6-8014-10C8F1FFA73F}" type="sibTrans" cxnId="{F4E6D237-43EF-44A4-BBCA-21FA23CC9E2C}">
      <dgm:prSet/>
      <dgm:spPr/>
      <dgm:t>
        <a:bodyPr/>
        <a:lstStyle/>
        <a:p>
          <a:pPr latinLnBrk="1"/>
          <a:endParaRPr lang="ko-KR" altLang="en-US"/>
        </a:p>
      </dgm:t>
    </dgm:pt>
    <dgm:pt modelId="{16D1559E-4E5A-43B3-9FE0-71263F56DAAB}">
      <dgm:prSet/>
      <dgm:spPr>
        <a:solidFill>
          <a:schemeClr val="accent2"/>
        </a:solidFill>
        <a:ln>
          <a:noFill/>
        </a:ln>
      </dgm:spPr>
      <dgm:t>
        <a:bodyPr/>
        <a:lstStyle/>
        <a:p>
          <a:pPr latinLnBrk="1"/>
          <a:r>
            <a:rPr lang="en-US" altLang="ko-KR" b="1" dirty="0" smtClean="0">
              <a:solidFill>
                <a:schemeClr val="tx1"/>
              </a:solidFill>
            </a:rPr>
            <a:t>generate .</a:t>
          </a:r>
          <a:r>
            <a:rPr lang="en-US" altLang="ko-KR" b="1" dirty="0" err="1" smtClean="0">
              <a:solidFill>
                <a:schemeClr val="tx1"/>
              </a:solidFill>
            </a:rPr>
            <a:t>mfj</a:t>
          </a:r>
          <a:r>
            <a:rPr lang="en-US" altLang="ko-KR" b="1" dirty="0" smtClean="0">
              <a:solidFill>
                <a:schemeClr val="tx1"/>
              </a:solidFill>
            </a:rPr>
            <a:t> file</a:t>
          </a:r>
          <a:endParaRPr lang="ko-KR" altLang="en-US" b="1" dirty="0">
            <a:solidFill>
              <a:schemeClr val="tx1"/>
            </a:solidFill>
          </a:endParaRPr>
        </a:p>
      </dgm:t>
    </dgm:pt>
    <dgm:pt modelId="{E57AAE2D-5CF1-4CAF-9A91-98C9C90A6839}" type="parTrans" cxnId="{E054FFB2-997A-4133-B2E5-324F44AC0915}">
      <dgm:prSet/>
      <dgm:spPr/>
      <dgm:t>
        <a:bodyPr/>
        <a:lstStyle/>
        <a:p>
          <a:pPr latinLnBrk="1"/>
          <a:endParaRPr lang="ko-KR" altLang="en-US"/>
        </a:p>
      </dgm:t>
    </dgm:pt>
    <dgm:pt modelId="{57D6F5ED-8A45-4AC5-A9C0-FDE43DF543C1}" type="sibTrans" cxnId="{E054FFB2-997A-4133-B2E5-324F44AC0915}">
      <dgm:prSet/>
      <dgm:spPr/>
      <dgm:t>
        <a:bodyPr/>
        <a:lstStyle/>
        <a:p>
          <a:pPr latinLnBrk="1"/>
          <a:endParaRPr lang="ko-KR" altLang="en-US"/>
        </a:p>
      </dgm:t>
    </dgm:pt>
    <dgm:pt modelId="{C51D1EA2-2313-483C-99B5-E5C34695C01B}">
      <dgm:prSet/>
      <dgm:spPr>
        <a:solidFill>
          <a:schemeClr val="accent2"/>
        </a:solidFill>
        <a:ln>
          <a:noFill/>
        </a:ln>
      </dgm:spPr>
      <dgm:t>
        <a:bodyPr/>
        <a:lstStyle/>
        <a:p>
          <a:pPr latinLnBrk="1"/>
          <a:r>
            <a:rPr lang="en-US" altLang="ko-KR" b="1" dirty="0" smtClean="0">
              <a:solidFill>
                <a:schemeClr val="tx1"/>
              </a:solidFill>
            </a:rPr>
            <a:t>run </a:t>
          </a:r>
          <a:r>
            <a:rPr lang="en-US" altLang="ko-KR" b="1" dirty="0" err="1" smtClean="0">
              <a:solidFill>
                <a:schemeClr val="tx1"/>
              </a:solidFill>
            </a:rPr>
            <a:t>mobcal</a:t>
          </a:r>
          <a:endParaRPr lang="ko-KR" altLang="en-US" b="1" dirty="0">
            <a:solidFill>
              <a:schemeClr val="tx1"/>
            </a:solidFill>
          </a:endParaRPr>
        </a:p>
      </dgm:t>
    </dgm:pt>
    <dgm:pt modelId="{FEB34B17-7813-4612-A884-35EE1B7F8C1C}" type="parTrans" cxnId="{8412FC6C-FA5C-4451-84FB-522D0579DA41}">
      <dgm:prSet/>
      <dgm:spPr/>
      <dgm:t>
        <a:bodyPr/>
        <a:lstStyle/>
        <a:p>
          <a:pPr latinLnBrk="1"/>
          <a:endParaRPr lang="ko-KR" altLang="en-US"/>
        </a:p>
      </dgm:t>
    </dgm:pt>
    <dgm:pt modelId="{A742784F-2B57-489E-9585-7A40DAF195A8}" type="sibTrans" cxnId="{8412FC6C-FA5C-4451-84FB-522D0579DA41}">
      <dgm:prSet/>
      <dgm:spPr/>
      <dgm:t>
        <a:bodyPr/>
        <a:lstStyle/>
        <a:p>
          <a:pPr latinLnBrk="1"/>
          <a:endParaRPr lang="ko-KR" altLang="en-US"/>
        </a:p>
      </dgm:t>
    </dgm:pt>
    <dgm:pt modelId="{A6AED498-31D8-40C7-9FCA-EFAA46E87C6C}" type="pres">
      <dgm:prSet presAssocID="{8698D62F-C8D4-4E37-B88D-C55F27905B6E}" presName="linearFlow" presStyleCnt="0">
        <dgm:presLayoutVars>
          <dgm:resizeHandles val="exact"/>
        </dgm:presLayoutVars>
      </dgm:prSet>
      <dgm:spPr/>
    </dgm:pt>
    <dgm:pt modelId="{D250AEE1-B1F7-42D6-8B2B-8BB2C066EAEB}" type="pres">
      <dgm:prSet presAssocID="{7F577E55-9DF8-4CF2-91FD-54C494CA883E}" presName="node" presStyleLbl="node1" presStyleIdx="0" presStyleCnt="5">
        <dgm:presLayoutVars>
          <dgm:bulletEnabled val="1"/>
        </dgm:presLayoutVars>
      </dgm:prSet>
      <dgm:spPr/>
    </dgm:pt>
    <dgm:pt modelId="{C8AC50BF-18EA-424C-930D-C614E1699EE9}" type="pres">
      <dgm:prSet presAssocID="{E453BDF2-C48E-45DA-AD80-C1F0F1093E0E}" presName="sibTrans" presStyleLbl="sibTrans2D1" presStyleIdx="0" presStyleCnt="4"/>
      <dgm:spPr/>
    </dgm:pt>
    <dgm:pt modelId="{FF284C75-28F2-4539-A7A9-8C1E996011B1}" type="pres">
      <dgm:prSet presAssocID="{E453BDF2-C48E-45DA-AD80-C1F0F1093E0E}" presName="connectorText" presStyleLbl="sibTrans2D1" presStyleIdx="0" presStyleCnt="4"/>
      <dgm:spPr/>
    </dgm:pt>
    <dgm:pt modelId="{C4B360C2-DA5E-42F6-938E-3E8A3B0004C2}" type="pres">
      <dgm:prSet presAssocID="{E0C6CABF-2778-4AE1-A6C8-F9ACB0A565A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7E243C-B68A-4B03-8D2E-4C3A2D2F6F12}" type="pres">
      <dgm:prSet presAssocID="{57D2A8BC-051A-4B65-AA2B-52ACF5C8238D}" presName="sibTrans" presStyleLbl="sibTrans2D1" presStyleIdx="1" presStyleCnt="4"/>
      <dgm:spPr/>
    </dgm:pt>
    <dgm:pt modelId="{FF6A1E00-B6A4-467C-ACD9-AE65AB40A45A}" type="pres">
      <dgm:prSet presAssocID="{57D2A8BC-051A-4B65-AA2B-52ACF5C8238D}" presName="connectorText" presStyleLbl="sibTrans2D1" presStyleIdx="1" presStyleCnt="4"/>
      <dgm:spPr/>
    </dgm:pt>
    <dgm:pt modelId="{AE6A84AA-D2B7-43A6-9714-85046BE19A61}" type="pres">
      <dgm:prSet presAssocID="{2D4DECF0-EB0E-47C5-B41F-BA661EB16DA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40F512D-917D-4E9D-92AC-162DF9AC7B34}" type="pres">
      <dgm:prSet presAssocID="{D010D98D-E03B-49F6-8014-10C8F1FFA73F}" presName="sibTrans" presStyleLbl="sibTrans2D1" presStyleIdx="2" presStyleCnt="4"/>
      <dgm:spPr/>
    </dgm:pt>
    <dgm:pt modelId="{4D87FD8E-68D2-4A3C-85BD-08FDCB1837B6}" type="pres">
      <dgm:prSet presAssocID="{D010D98D-E03B-49F6-8014-10C8F1FFA73F}" presName="connectorText" presStyleLbl="sibTrans2D1" presStyleIdx="2" presStyleCnt="4"/>
      <dgm:spPr/>
    </dgm:pt>
    <dgm:pt modelId="{3E0E0F64-F940-4404-ADD4-711C689F5861}" type="pres">
      <dgm:prSet presAssocID="{16D1559E-4E5A-43B3-9FE0-71263F56DAA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2A72A3D-0B21-4445-8DE6-BE352BF4EE9A}" type="pres">
      <dgm:prSet presAssocID="{57D6F5ED-8A45-4AC5-A9C0-FDE43DF543C1}" presName="sibTrans" presStyleLbl="sibTrans2D1" presStyleIdx="3" presStyleCnt="4"/>
      <dgm:spPr/>
    </dgm:pt>
    <dgm:pt modelId="{11FDBCC9-7E58-4708-8D34-5792FC88EF46}" type="pres">
      <dgm:prSet presAssocID="{57D6F5ED-8A45-4AC5-A9C0-FDE43DF543C1}" presName="connectorText" presStyleLbl="sibTrans2D1" presStyleIdx="3" presStyleCnt="4"/>
      <dgm:spPr/>
    </dgm:pt>
    <dgm:pt modelId="{63462701-00CC-41DD-943C-D6B188505549}" type="pres">
      <dgm:prSet presAssocID="{C51D1EA2-2313-483C-99B5-E5C34695C01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59B63B93-8DA4-4198-97FC-1B60753AD909}" type="presOf" srcId="{57D6F5ED-8A45-4AC5-A9C0-FDE43DF543C1}" destId="{11FDBCC9-7E58-4708-8D34-5792FC88EF46}" srcOrd="1" destOrd="0" presId="urn:microsoft.com/office/officeart/2005/8/layout/process2"/>
    <dgm:cxn modelId="{4DF50D8F-F5C0-4870-8C1A-6D940DD6F666}" type="presOf" srcId="{57D6F5ED-8A45-4AC5-A9C0-FDE43DF543C1}" destId="{62A72A3D-0B21-4445-8DE6-BE352BF4EE9A}" srcOrd="0" destOrd="0" presId="urn:microsoft.com/office/officeart/2005/8/layout/process2"/>
    <dgm:cxn modelId="{B2D47EF1-6F46-4710-A680-DB83126A346F}" type="presOf" srcId="{57D2A8BC-051A-4B65-AA2B-52ACF5C8238D}" destId="{8F7E243C-B68A-4B03-8D2E-4C3A2D2F6F12}" srcOrd="0" destOrd="0" presId="urn:microsoft.com/office/officeart/2005/8/layout/process2"/>
    <dgm:cxn modelId="{E054FFB2-997A-4133-B2E5-324F44AC0915}" srcId="{8698D62F-C8D4-4E37-B88D-C55F27905B6E}" destId="{16D1559E-4E5A-43B3-9FE0-71263F56DAAB}" srcOrd="3" destOrd="0" parTransId="{E57AAE2D-5CF1-4CAF-9A91-98C9C90A6839}" sibTransId="{57D6F5ED-8A45-4AC5-A9C0-FDE43DF543C1}"/>
    <dgm:cxn modelId="{1135BDEB-CBEE-43A1-8F18-5081301622EE}" type="presOf" srcId="{D010D98D-E03B-49F6-8014-10C8F1FFA73F}" destId="{4D87FD8E-68D2-4A3C-85BD-08FDCB1837B6}" srcOrd="1" destOrd="0" presId="urn:microsoft.com/office/officeart/2005/8/layout/process2"/>
    <dgm:cxn modelId="{F4E6D237-43EF-44A4-BBCA-21FA23CC9E2C}" srcId="{8698D62F-C8D4-4E37-B88D-C55F27905B6E}" destId="{2D4DECF0-EB0E-47C5-B41F-BA661EB16DA5}" srcOrd="2" destOrd="0" parTransId="{658EE484-CFFA-4C5A-AD25-C276F2869FEE}" sibTransId="{D010D98D-E03B-49F6-8014-10C8F1FFA73F}"/>
    <dgm:cxn modelId="{C012E305-ADA7-4A00-90A6-C8F81DAEABC8}" srcId="{8698D62F-C8D4-4E37-B88D-C55F27905B6E}" destId="{E0C6CABF-2778-4AE1-A6C8-F9ACB0A565AC}" srcOrd="1" destOrd="0" parTransId="{D8348CC7-DD85-49EC-B20A-2E0776EB3DC3}" sibTransId="{57D2A8BC-051A-4B65-AA2B-52ACF5C8238D}"/>
    <dgm:cxn modelId="{B989E5A7-2E18-4A68-86B1-87001C853E39}" type="presOf" srcId="{2D4DECF0-EB0E-47C5-B41F-BA661EB16DA5}" destId="{AE6A84AA-D2B7-43A6-9714-85046BE19A61}" srcOrd="0" destOrd="0" presId="urn:microsoft.com/office/officeart/2005/8/layout/process2"/>
    <dgm:cxn modelId="{BC1A37A0-9719-4A88-BD6A-52A6F77CB039}" type="presOf" srcId="{16D1559E-4E5A-43B3-9FE0-71263F56DAAB}" destId="{3E0E0F64-F940-4404-ADD4-711C689F5861}" srcOrd="0" destOrd="0" presId="urn:microsoft.com/office/officeart/2005/8/layout/process2"/>
    <dgm:cxn modelId="{DCF72FA4-9C0D-49CF-87AB-52865EFA16E1}" type="presOf" srcId="{E453BDF2-C48E-45DA-AD80-C1F0F1093E0E}" destId="{C8AC50BF-18EA-424C-930D-C614E1699EE9}" srcOrd="0" destOrd="0" presId="urn:microsoft.com/office/officeart/2005/8/layout/process2"/>
    <dgm:cxn modelId="{85518E17-877F-455F-A123-A8F546F5E9BD}" type="presOf" srcId="{7F577E55-9DF8-4CF2-91FD-54C494CA883E}" destId="{D250AEE1-B1F7-42D6-8B2B-8BB2C066EAEB}" srcOrd="0" destOrd="0" presId="urn:microsoft.com/office/officeart/2005/8/layout/process2"/>
    <dgm:cxn modelId="{CD144765-F257-491A-88BB-436DE7086587}" srcId="{8698D62F-C8D4-4E37-B88D-C55F27905B6E}" destId="{7F577E55-9DF8-4CF2-91FD-54C494CA883E}" srcOrd="0" destOrd="0" parTransId="{E48008D3-4DFD-465D-8EB5-D740CD423B32}" sibTransId="{E453BDF2-C48E-45DA-AD80-C1F0F1093E0E}"/>
    <dgm:cxn modelId="{F5B03C25-7346-463D-8FE3-3B0D4FA70D0E}" type="presOf" srcId="{E0C6CABF-2778-4AE1-A6C8-F9ACB0A565AC}" destId="{C4B360C2-DA5E-42F6-938E-3E8A3B0004C2}" srcOrd="0" destOrd="0" presId="urn:microsoft.com/office/officeart/2005/8/layout/process2"/>
    <dgm:cxn modelId="{6981E936-FDC2-42AD-AA69-8EB1E6BDD0FB}" type="presOf" srcId="{8698D62F-C8D4-4E37-B88D-C55F27905B6E}" destId="{A6AED498-31D8-40C7-9FCA-EFAA46E87C6C}" srcOrd="0" destOrd="0" presId="urn:microsoft.com/office/officeart/2005/8/layout/process2"/>
    <dgm:cxn modelId="{C0B130E7-AC7C-41B1-B414-089CDFDFF579}" type="presOf" srcId="{E453BDF2-C48E-45DA-AD80-C1F0F1093E0E}" destId="{FF284C75-28F2-4539-A7A9-8C1E996011B1}" srcOrd="1" destOrd="0" presId="urn:microsoft.com/office/officeart/2005/8/layout/process2"/>
    <dgm:cxn modelId="{8412FC6C-FA5C-4451-84FB-522D0579DA41}" srcId="{8698D62F-C8D4-4E37-B88D-C55F27905B6E}" destId="{C51D1EA2-2313-483C-99B5-E5C34695C01B}" srcOrd="4" destOrd="0" parTransId="{FEB34B17-7813-4612-A884-35EE1B7F8C1C}" sibTransId="{A742784F-2B57-489E-9585-7A40DAF195A8}"/>
    <dgm:cxn modelId="{E6733596-D8D5-4377-977D-F0F1946C65D5}" type="presOf" srcId="{57D2A8BC-051A-4B65-AA2B-52ACF5C8238D}" destId="{FF6A1E00-B6A4-467C-ACD9-AE65AB40A45A}" srcOrd="1" destOrd="0" presId="urn:microsoft.com/office/officeart/2005/8/layout/process2"/>
    <dgm:cxn modelId="{BB7BA1F8-E14D-4504-B02B-39C51BB893C3}" type="presOf" srcId="{C51D1EA2-2313-483C-99B5-E5C34695C01B}" destId="{63462701-00CC-41DD-943C-D6B188505549}" srcOrd="0" destOrd="0" presId="urn:microsoft.com/office/officeart/2005/8/layout/process2"/>
    <dgm:cxn modelId="{511BC36F-E529-4252-8D96-608037AE0960}" type="presOf" srcId="{D010D98D-E03B-49F6-8014-10C8F1FFA73F}" destId="{140F512D-917D-4E9D-92AC-162DF9AC7B34}" srcOrd="0" destOrd="0" presId="urn:microsoft.com/office/officeart/2005/8/layout/process2"/>
    <dgm:cxn modelId="{C0E4A86E-BA11-4372-B3CE-E82A1EDB92F6}" type="presParOf" srcId="{A6AED498-31D8-40C7-9FCA-EFAA46E87C6C}" destId="{D250AEE1-B1F7-42D6-8B2B-8BB2C066EAEB}" srcOrd="0" destOrd="0" presId="urn:microsoft.com/office/officeart/2005/8/layout/process2"/>
    <dgm:cxn modelId="{FFF6A35B-BCBA-425A-8A74-111FD8E6CF0E}" type="presParOf" srcId="{A6AED498-31D8-40C7-9FCA-EFAA46E87C6C}" destId="{C8AC50BF-18EA-424C-930D-C614E1699EE9}" srcOrd="1" destOrd="0" presId="urn:microsoft.com/office/officeart/2005/8/layout/process2"/>
    <dgm:cxn modelId="{7847EED3-2D11-4CA6-84EC-2598B281C939}" type="presParOf" srcId="{C8AC50BF-18EA-424C-930D-C614E1699EE9}" destId="{FF284C75-28F2-4539-A7A9-8C1E996011B1}" srcOrd="0" destOrd="0" presId="urn:microsoft.com/office/officeart/2005/8/layout/process2"/>
    <dgm:cxn modelId="{A50F2D30-01D3-4270-A7BB-CA5AF6BFCDF1}" type="presParOf" srcId="{A6AED498-31D8-40C7-9FCA-EFAA46E87C6C}" destId="{C4B360C2-DA5E-42F6-938E-3E8A3B0004C2}" srcOrd="2" destOrd="0" presId="urn:microsoft.com/office/officeart/2005/8/layout/process2"/>
    <dgm:cxn modelId="{0F84E428-B32A-4704-888C-ABD973A74144}" type="presParOf" srcId="{A6AED498-31D8-40C7-9FCA-EFAA46E87C6C}" destId="{8F7E243C-B68A-4B03-8D2E-4C3A2D2F6F12}" srcOrd="3" destOrd="0" presId="urn:microsoft.com/office/officeart/2005/8/layout/process2"/>
    <dgm:cxn modelId="{912345E5-701A-46C4-9948-45700C016CD8}" type="presParOf" srcId="{8F7E243C-B68A-4B03-8D2E-4C3A2D2F6F12}" destId="{FF6A1E00-B6A4-467C-ACD9-AE65AB40A45A}" srcOrd="0" destOrd="0" presId="urn:microsoft.com/office/officeart/2005/8/layout/process2"/>
    <dgm:cxn modelId="{33CFE145-C041-4E06-BF57-F21F917C6F13}" type="presParOf" srcId="{A6AED498-31D8-40C7-9FCA-EFAA46E87C6C}" destId="{AE6A84AA-D2B7-43A6-9714-85046BE19A61}" srcOrd="4" destOrd="0" presId="urn:microsoft.com/office/officeart/2005/8/layout/process2"/>
    <dgm:cxn modelId="{170098EF-3B9F-433A-A4BE-CBA52FA3CC16}" type="presParOf" srcId="{A6AED498-31D8-40C7-9FCA-EFAA46E87C6C}" destId="{140F512D-917D-4E9D-92AC-162DF9AC7B34}" srcOrd="5" destOrd="0" presId="urn:microsoft.com/office/officeart/2005/8/layout/process2"/>
    <dgm:cxn modelId="{B9FC02D1-403B-4BC2-9A63-65E686AC335C}" type="presParOf" srcId="{140F512D-917D-4E9D-92AC-162DF9AC7B34}" destId="{4D87FD8E-68D2-4A3C-85BD-08FDCB1837B6}" srcOrd="0" destOrd="0" presId="urn:microsoft.com/office/officeart/2005/8/layout/process2"/>
    <dgm:cxn modelId="{D8CA4A8E-5131-4E1A-AF9A-C37015657036}" type="presParOf" srcId="{A6AED498-31D8-40C7-9FCA-EFAA46E87C6C}" destId="{3E0E0F64-F940-4404-ADD4-711C689F5861}" srcOrd="6" destOrd="0" presId="urn:microsoft.com/office/officeart/2005/8/layout/process2"/>
    <dgm:cxn modelId="{16764049-3B10-4A62-847F-2B056381877D}" type="presParOf" srcId="{A6AED498-31D8-40C7-9FCA-EFAA46E87C6C}" destId="{62A72A3D-0B21-4445-8DE6-BE352BF4EE9A}" srcOrd="7" destOrd="0" presId="urn:microsoft.com/office/officeart/2005/8/layout/process2"/>
    <dgm:cxn modelId="{FA737F64-3862-479E-AD9F-DE5F32E17F00}" type="presParOf" srcId="{62A72A3D-0B21-4445-8DE6-BE352BF4EE9A}" destId="{11FDBCC9-7E58-4708-8D34-5792FC88EF46}" srcOrd="0" destOrd="0" presId="urn:microsoft.com/office/officeart/2005/8/layout/process2"/>
    <dgm:cxn modelId="{A76D269E-274A-4DB0-AE13-8D78B7B39301}" type="presParOf" srcId="{A6AED498-31D8-40C7-9FCA-EFAA46E87C6C}" destId="{63462701-00CC-41DD-943C-D6B188505549}" srcOrd="8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0AEE1-B1F7-42D6-8B2B-8BB2C066EAEB}">
      <dsp:nvSpPr>
        <dsp:cNvPr id="0" name=""/>
        <dsp:cNvSpPr/>
      </dsp:nvSpPr>
      <dsp:spPr>
        <a:xfrm>
          <a:off x="2448243" y="609"/>
          <a:ext cx="2018662" cy="71299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1" kern="1200" dirty="0" smtClean="0">
              <a:solidFill>
                <a:schemeClr val="tx1"/>
              </a:solidFill>
            </a:rPr>
            <a:t>atomic coordinates and charges</a:t>
          </a:r>
          <a:endParaRPr lang="ko-KR" altLang="en-US" sz="1800" b="1" kern="1200" dirty="0">
            <a:solidFill>
              <a:schemeClr val="tx1"/>
            </a:solidFill>
          </a:endParaRPr>
        </a:p>
      </dsp:txBody>
      <dsp:txXfrm>
        <a:off x="2469126" y="21492"/>
        <a:ext cx="1976896" cy="671227"/>
      </dsp:txXfrm>
    </dsp:sp>
    <dsp:sp modelId="{C8AC50BF-18EA-424C-930D-C614E1699EE9}">
      <dsp:nvSpPr>
        <dsp:cNvPr id="0" name=""/>
        <dsp:cNvSpPr/>
      </dsp:nvSpPr>
      <dsp:spPr>
        <a:xfrm rot="5400000">
          <a:off x="3323888" y="731427"/>
          <a:ext cx="267372" cy="3208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/>
        </a:p>
      </dsp:txBody>
      <dsp:txXfrm rot="-5400000">
        <a:off x="3361320" y="758164"/>
        <a:ext cx="192509" cy="187160"/>
      </dsp:txXfrm>
    </dsp:sp>
    <dsp:sp modelId="{C4B360C2-DA5E-42F6-938E-3E8A3B0004C2}">
      <dsp:nvSpPr>
        <dsp:cNvPr id="0" name=""/>
        <dsp:cNvSpPr/>
      </dsp:nvSpPr>
      <dsp:spPr>
        <a:xfrm>
          <a:off x="2448243" y="1070099"/>
          <a:ext cx="2018662" cy="71299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1" kern="1200" dirty="0" smtClean="0">
              <a:solidFill>
                <a:schemeClr val="tx1"/>
              </a:solidFill>
            </a:rPr>
            <a:t>generate .</a:t>
          </a:r>
          <a:r>
            <a:rPr lang="en-US" altLang="ko-KR" sz="1800" b="1" kern="1200" dirty="0" err="1" smtClean="0">
              <a:solidFill>
                <a:schemeClr val="tx1"/>
              </a:solidFill>
            </a:rPr>
            <a:t>sdf</a:t>
          </a:r>
          <a:r>
            <a:rPr lang="en-US" altLang="ko-KR" sz="1800" b="1" kern="1200" dirty="0" smtClean="0">
              <a:solidFill>
                <a:schemeClr val="tx1"/>
              </a:solidFill>
            </a:rPr>
            <a:t> file</a:t>
          </a:r>
          <a:endParaRPr lang="ko-KR" altLang="en-US" sz="1800" b="1" kern="1200" dirty="0">
            <a:solidFill>
              <a:schemeClr val="tx1"/>
            </a:solidFill>
          </a:endParaRPr>
        </a:p>
      </dsp:txBody>
      <dsp:txXfrm>
        <a:off x="2469126" y="1090982"/>
        <a:ext cx="1976896" cy="671227"/>
      </dsp:txXfrm>
    </dsp:sp>
    <dsp:sp modelId="{8F7E243C-B68A-4B03-8D2E-4C3A2D2F6F12}">
      <dsp:nvSpPr>
        <dsp:cNvPr id="0" name=""/>
        <dsp:cNvSpPr/>
      </dsp:nvSpPr>
      <dsp:spPr>
        <a:xfrm rot="5400000">
          <a:off x="3323888" y="1800917"/>
          <a:ext cx="267372" cy="3208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/>
        </a:p>
      </dsp:txBody>
      <dsp:txXfrm rot="-5400000">
        <a:off x="3361320" y="1827654"/>
        <a:ext cx="192509" cy="187160"/>
      </dsp:txXfrm>
    </dsp:sp>
    <dsp:sp modelId="{AE6A84AA-D2B7-43A6-9714-85046BE19A61}">
      <dsp:nvSpPr>
        <dsp:cNvPr id="0" name=""/>
        <dsp:cNvSpPr/>
      </dsp:nvSpPr>
      <dsp:spPr>
        <a:xfrm>
          <a:off x="2448243" y="2139589"/>
          <a:ext cx="2018662" cy="71299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1" kern="1200" dirty="0" smtClean="0">
              <a:solidFill>
                <a:schemeClr val="tx1"/>
              </a:solidFill>
            </a:rPr>
            <a:t>generate .xyz and .key file</a:t>
          </a:r>
        </a:p>
      </dsp:txBody>
      <dsp:txXfrm>
        <a:off x="2469126" y="2160472"/>
        <a:ext cx="1976896" cy="671227"/>
      </dsp:txXfrm>
    </dsp:sp>
    <dsp:sp modelId="{140F512D-917D-4E9D-92AC-162DF9AC7B34}">
      <dsp:nvSpPr>
        <dsp:cNvPr id="0" name=""/>
        <dsp:cNvSpPr/>
      </dsp:nvSpPr>
      <dsp:spPr>
        <a:xfrm rot="5400000">
          <a:off x="3323888" y="2870408"/>
          <a:ext cx="267372" cy="3208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/>
        </a:p>
      </dsp:txBody>
      <dsp:txXfrm rot="-5400000">
        <a:off x="3361320" y="2897145"/>
        <a:ext cx="192509" cy="187160"/>
      </dsp:txXfrm>
    </dsp:sp>
    <dsp:sp modelId="{3E0E0F64-F940-4404-ADD4-711C689F5861}">
      <dsp:nvSpPr>
        <dsp:cNvPr id="0" name=""/>
        <dsp:cNvSpPr/>
      </dsp:nvSpPr>
      <dsp:spPr>
        <a:xfrm>
          <a:off x="2448243" y="3209079"/>
          <a:ext cx="2018662" cy="71299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1" kern="1200" dirty="0" smtClean="0">
              <a:solidFill>
                <a:schemeClr val="tx1"/>
              </a:solidFill>
            </a:rPr>
            <a:t>generate .</a:t>
          </a:r>
          <a:r>
            <a:rPr lang="en-US" altLang="ko-KR" sz="1800" b="1" kern="1200" dirty="0" err="1" smtClean="0">
              <a:solidFill>
                <a:schemeClr val="tx1"/>
              </a:solidFill>
            </a:rPr>
            <a:t>mfj</a:t>
          </a:r>
          <a:r>
            <a:rPr lang="en-US" altLang="ko-KR" sz="1800" b="1" kern="1200" dirty="0" smtClean="0">
              <a:solidFill>
                <a:schemeClr val="tx1"/>
              </a:solidFill>
            </a:rPr>
            <a:t> file</a:t>
          </a:r>
          <a:endParaRPr lang="ko-KR" altLang="en-US" sz="1800" b="1" kern="1200" dirty="0">
            <a:solidFill>
              <a:schemeClr val="tx1"/>
            </a:solidFill>
          </a:endParaRPr>
        </a:p>
      </dsp:txBody>
      <dsp:txXfrm>
        <a:off x="2469126" y="3229962"/>
        <a:ext cx="1976896" cy="671227"/>
      </dsp:txXfrm>
    </dsp:sp>
    <dsp:sp modelId="{62A72A3D-0B21-4445-8DE6-BE352BF4EE9A}">
      <dsp:nvSpPr>
        <dsp:cNvPr id="0" name=""/>
        <dsp:cNvSpPr/>
      </dsp:nvSpPr>
      <dsp:spPr>
        <a:xfrm rot="5400000">
          <a:off x="3323888" y="3939898"/>
          <a:ext cx="267372" cy="3208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/>
        </a:p>
      </dsp:txBody>
      <dsp:txXfrm rot="-5400000">
        <a:off x="3361320" y="3966635"/>
        <a:ext cx="192509" cy="187160"/>
      </dsp:txXfrm>
    </dsp:sp>
    <dsp:sp modelId="{63462701-00CC-41DD-943C-D6B188505549}">
      <dsp:nvSpPr>
        <dsp:cNvPr id="0" name=""/>
        <dsp:cNvSpPr/>
      </dsp:nvSpPr>
      <dsp:spPr>
        <a:xfrm>
          <a:off x="2448243" y="4278570"/>
          <a:ext cx="2018662" cy="71299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1" kern="1200" dirty="0" smtClean="0">
              <a:solidFill>
                <a:schemeClr val="tx1"/>
              </a:solidFill>
            </a:rPr>
            <a:t>run </a:t>
          </a:r>
          <a:r>
            <a:rPr lang="en-US" altLang="ko-KR" sz="1800" b="1" kern="1200" dirty="0" err="1" smtClean="0">
              <a:solidFill>
                <a:schemeClr val="tx1"/>
              </a:solidFill>
            </a:rPr>
            <a:t>mobcal</a:t>
          </a:r>
          <a:endParaRPr lang="ko-KR" altLang="en-US" sz="1800" b="1" kern="1200" dirty="0">
            <a:solidFill>
              <a:schemeClr val="tx1"/>
            </a:solidFill>
          </a:endParaRPr>
        </a:p>
      </dsp:txBody>
      <dsp:txXfrm>
        <a:off x="2469126" y="4299453"/>
        <a:ext cx="1976896" cy="671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78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74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15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7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70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23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6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99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22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82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71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A7802-1FDD-4433-BE97-D61BA14F30BE}" type="datetimeFigureOut">
              <a:rPr lang="ko-KR" altLang="en-US" smtClean="0"/>
              <a:t>2018-03-15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BD36A-E187-42D3-993E-A84B2F182C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69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0200" y="457200"/>
            <a:ext cx="1929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General overview:</a:t>
            </a: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789993221"/>
              </p:ext>
            </p:extLst>
          </p:nvPr>
        </p:nvGraphicFramePr>
        <p:xfrm>
          <a:off x="854075" y="1140855"/>
          <a:ext cx="6915150" cy="4992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290" y="1848881"/>
            <a:ext cx="15552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OpenBabel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290" y="2926239"/>
            <a:ext cx="1784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sdf2tinkerxyz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290" y="3752869"/>
            <a:ext cx="3509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xyztomfj_mmff_mmffcharge.py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vdw.prm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mass.prm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4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9100" y="533400"/>
            <a:ext cx="1662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Necessary files: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19100" y="2505075"/>
            <a:ext cx="83724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OpenBabel</a:t>
            </a:r>
            <a:r>
              <a:rPr lang="en-US" altLang="ko-KR" dirty="0" smtClean="0"/>
              <a:t>: converts a coordinate file into an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sdf</a:t>
            </a:r>
            <a:r>
              <a:rPr lang="en-US" altLang="ko-KR" dirty="0" smtClean="0"/>
              <a:t> file. Needs to be pre-installed on </a:t>
            </a:r>
            <a:r>
              <a:rPr lang="en-US" altLang="ko-KR" dirty="0"/>
              <a:t>the </a:t>
            </a:r>
            <a:r>
              <a:rPr lang="en-US" altLang="ko-KR" dirty="0" smtClean="0"/>
              <a:t>system</a:t>
            </a:r>
            <a:br>
              <a:rPr lang="en-US" altLang="ko-KR" dirty="0" smtClean="0"/>
            </a:br>
            <a:r>
              <a:rPr lang="en-US" altLang="ko-KR" dirty="0" smtClean="0"/>
              <a:t>(http</a:t>
            </a:r>
            <a:r>
              <a:rPr lang="en-US" altLang="ko-KR" dirty="0"/>
              <a:t>://</a:t>
            </a:r>
            <a:r>
              <a:rPr lang="en-US" altLang="ko-KR" dirty="0" smtClean="0"/>
              <a:t>openbabel.org/wiki/Main_Page)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sdf2tinkerxyz</a:t>
            </a:r>
            <a:r>
              <a:rPr lang="en-US" altLang="ko-KR" dirty="0" smtClean="0"/>
              <a:t>: generates the </a:t>
            </a:r>
            <a:r>
              <a:rPr lang="en-US" altLang="ko-KR" b="1" dirty="0" smtClean="0"/>
              <a:t>.xyz</a:t>
            </a:r>
            <a:r>
              <a:rPr lang="en-US" altLang="ko-KR" dirty="0" smtClean="0"/>
              <a:t> and </a:t>
            </a:r>
            <a:r>
              <a:rPr lang="en-US" altLang="ko-KR" b="1" dirty="0" smtClean="0"/>
              <a:t>.key</a:t>
            </a:r>
            <a:r>
              <a:rPr lang="en-US" altLang="ko-KR" dirty="0" smtClean="0"/>
              <a:t> file with MMFF atom types and charges. Needs </a:t>
            </a:r>
            <a:r>
              <a:rPr lang="en-US" altLang="ko-KR" dirty="0"/>
              <a:t>to be pre-installed on the system (http://sdf2xyz2sdf.sourceforge.net/?</a:t>
            </a:r>
            <a:r>
              <a:rPr lang="en-US" altLang="ko-KR" dirty="0" smtClean="0"/>
              <a:t>Description:sdf2tinkerxyz)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xyztomfj_mmff_mmffcharge.py</a:t>
            </a:r>
            <a:r>
              <a:rPr lang="en-US" altLang="ko-KR" dirty="0" smtClean="0"/>
              <a:t>: generates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mfj</a:t>
            </a:r>
            <a:r>
              <a:rPr lang="en-US" altLang="ko-KR" dirty="0" smtClean="0"/>
              <a:t> file from </a:t>
            </a:r>
            <a:r>
              <a:rPr lang="en-US" altLang="ko-KR" dirty="0" err="1" smtClean="0"/>
              <a:t>atomtype</a:t>
            </a:r>
            <a:r>
              <a:rPr lang="en-US" altLang="ko-KR" dirty="0" smtClean="0"/>
              <a:t> and charge information from the </a:t>
            </a:r>
            <a:r>
              <a:rPr lang="en-US" altLang="ko-KR" b="1" dirty="0" smtClean="0"/>
              <a:t>.xyz</a:t>
            </a:r>
            <a:r>
              <a:rPr lang="en-US" altLang="ko-KR" dirty="0" smtClean="0"/>
              <a:t> and </a:t>
            </a:r>
            <a:r>
              <a:rPr lang="en-US" altLang="ko-KR" b="1" dirty="0" smtClean="0"/>
              <a:t>.key</a:t>
            </a:r>
            <a:r>
              <a:rPr lang="en-US" altLang="ko-KR" dirty="0" smtClean="0"/>
              <a:t> file, and the parameters from </a:t>
            </a:r>
            <a:r>
              <a:rPr lang="en-US" altLang="ko-KR" b="1" dirty="0" err="1" smtClean="0"/>
              <a:t>mass.prm</a:t>
            </a:r>
            <a:r>
              <a:rPr lang="en-US" altLang="ko-KR" dirty="0" smtClean="0"/>
              <a:t> and </a:t>
            </a:r>
            <a:r>
              <a:rPr lang="en-US" altLang="ko-KR" b="1" dirty="0" err="1" smtClean="0"/>
              <a:t>vdw.prm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mass.prm</a:t>
            </a:r>
            <a:r>
              <a:rPr lang="en-US" altLang="ko-KR" dirty="0" smtClean="0"/>
              <a:t>: summary of mass and </a:t>
            </a:r>
            <a:r>
              <a:rPr lang="en-US" altLang="ko-KR" dirty="0" err="1" smtClean="0"/>
              <a:t>atomtype</a:t>
            </a:r>
            <a:r>
              <a:rPr lang="en-US" altLang="ko-KR" dirty="0" smtClean="0"/>
              <a:t> information </a:t>
            </a:r>
            <a:r>
              <a:rPr lang="en-US" altLang="ko-KR" dirty="0"/>
              <a:t>from Tinker (https://</a:t>
            </a:r>
            <a:r>
              <a:rPr lang="en-US" altLang="ko-KR" dirty="0" smtClean="0"/>
              <a:t>dasher.wustl.edu/tinker/distribution/params/mmff.prm)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vdw.prm</a:t>
            </a:r>
            <a:r>
              <a:rPr lang="en-US" altLang="ko-KR" dirty="0" smtClean="0"/>
              <a:t>: summary of </a:t>
            </a:r>
            <a:r>
              <a:rPr lang="en-US" altLang="ko-KR" dirty="0" err="1" smtClean="0"/>
              <a:t>vdw</a:t>
            </a:r>
            <a:r>
              <a:rPr lang="en-US" altLang="ko-KR" dirty="0" smtClean="0"/>
              <a:t> parameters from the original publication for MMFF</a:t>
            </a:r>
            <a:br>
              <a:rPr lang="en-US" altLang="ko-KR" dirty="0" smtClean="0"/>
            </a:br>
            <a:r>
              <a:rPr lang="en-US" altLang="ko-KR" dirty="0" smtClean="0"/>
              <a:t>(ftp</a:t>
            </a:r>
            <a:r>
              <a:rPr lang="en-US" altLang="ko-KR" dirty="0"/>
              <a:t>://</a:t>
            </a:r>
            <a:r>
              <a:rPr lang="en-US" altLang="ko-KR" dirty="0" smtClean="0"/>
              <a:t>ftp.wiley.com/public/journals/jcc/suppmat/17/490/MMFF-I_AppendixB.ascii)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75253"/>
            <a:ext cx="25812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7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9100" y="533400"/>
            <a:ext cx="56232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Convert a coordinate file to an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sdf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file using </a:t>
            </a:r>
            <a:r>
              <a:rPr lang="en-US" altLang="ko-KR" b="1" dirty="0" err="1" smtClean="0"/>
              <a:t>OpenBabel</a:t>
            </a:r>
            <a:endParaRPr lang="en-US" altLang="ko-KR" b="1" dirty="0" smtClean="0"/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# </a:t>
            </a:r>
            <a:r>
              <a:rPr lang="en-US" altLang="ko-KR" dirty="0" err="1" smtClean="0"/>
              <a:t>obabel</a:t>
            </a:r>
            <a:r>
              <a:rPr lang="en-US" altLang="ko-KR" dirty="0" smtClean="0"/>
              <a:t> –imol2 1_Acridanone.mol2 -</a:t>
            </a:r>
            <a:r>
              <a:rPr lang="en-US" altLang="ko-KR" dirty="0" err="1" smtClean="0"/>
              <a:t>osdf</a:t>
            </a:r>
            <a:r>
              <a:rPr lang="en-US" altLang="ko-KR" dirty="0" smtClean="0"/>
              <a:t> -m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10" y="1601787"/>
            <a:ext cx="4343400" cy="13430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12" y="3478212"/>
            <a:ext cx="4295775" cy="2638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9100" y="3026846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.</a:t>
            </a:r>
            <a:r>
              <a:rPr lang="en-US" altLang="ko-KR" b="1" dirty="0" err="1" smtClean="0"/>
              <a:t>sdf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file is a type of coordinate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0561" y="620291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sdf</a:t>
            </a:r>
            <a:r>
              <a:rPr lang="en-US" altLang="ko-KR" b="1" dirty="0" smtClean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82368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9100" y="533400"/>
            <a:ext cx="7593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Generate .xyz and .key file from the .</a:t>
            </a:r>
            <a:r>
              <a:rPr lang="en-US" altLang="ko-KR" dirty="0" err="1" smtClean="0"/>
              <a:t>sdf</a:t>
            </a:r>
            <a:r>
              <a:rPr lang="en-US" altLang="ko-KR" dirty="0" smtClean="0"/>
              <a:t> file using the </a:t>
            </a:r>
            <a:r>
              <a:rPr lang="en-US" altLang="ko-KR" b="1" dirty="0" smtClean="0"/>
              <a:t>sdf2tinkerxyz</a:t>
            </a:r>
            <a:r>
              <a:rPr lang="en-US" altLang="ko-KR" dirty="0" smtClean="0"/>
              <a:t> software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# sdf2tinkerxyz &lt; 1_Acridanone.sdf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459289"/>
            <a:ext cx="4314825" cy="790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" y="2289333"/>
            <a:ext cx="4171950" cy="2686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2577" y="4975383"/>
            <a:ext cx="107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 </a:t>
            </a:r>
            <a:r>
              <a:rPr lang="en-US" altLang="ko-KR" b="1" dirty="0" smtClean="0"/>
              <a:t>.xyz file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737" y="2292508"/>
            <a:ext cx="4629150" cy="2657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44720" y="4975383"/>
            <a:ext cx="1093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 .key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74" y="5293915"/>
            <a:ext cx="8811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The generated </a:t>
            </a:r>
            <a:r>
              <a:rPr lang="en-US" altLang="ko-KR" b="1" dirty="0" smtClean="0"/>
              <a:t>.xyz </a:t>
            </a:r>
            <a:r>
              <a:rPr lang="en-US" altLang="ko-KR" dirty="0" smtClean="0"/>
              <a:t>file has the information on atom types automatically assigned by the </a:t>
            </a:r>
            <a:r>
              <a:rPr lang="en-US" altLang="ko-KR" b="1" dirty="0" smtClean="0"/>
              <a:t>sdf2tinkerxyz</a:t>
            </a:r>
            <a:r>
              <a:rPr lang="en-US" altLang="ko-KR" dirty="0" smtClean="0"/>
              <a:t> software. It is recommended to check the assigned atom types.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The generated </a:t>
            </a:r>
            <a:r>
              <a:rPr lang="en-US" altLang="ko-KR" b="1" dirty="0" smtClean="0"/>
              <a:t>.key</a:t>
            </a:r>
            <a:r>
              <a:rPr lang="en-US" altLang="ko-KR" dirty="0" smtClean="0"/>
              <a:t> file has the information on MMFF charges automatically assigned by the </a:t>
            </a:r>
            <a:r>
              <a:rPr lang="en-US" altLang="ko-KR" b="1" dirty="0" smtClean="0"/>
              <a:t>sdf2tinkerxyz</a:t>
            </a:r>
            <a:r>
              <a:rPr lang="en-US" altLang="ko-KR" dirty="0" smtClean="0"/>
              <a:t> software. Note that charges are sometimes improperly assigned, especially when multiple/uncommon protonation sites are present within a molecule.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 flipH="1" flipV="1">
            <a:off x="3238500" y="4762658"/>
            <a:ext cx="1968500" cy="5820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908807" y="2398473"/>
            <a:ext cx="418593" cy="2576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4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Generate the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mfj</a:t>
            </a:r>
            <a:r>
              <a:rPr lang="en-US" altLang="ko-KR" dirty="0" smtClean="0"/>
              <a:t> file for calculations using the </a:t>
            </a:r>
            <a:r>
              <a:rPr lang="en-US" altLang="ko-KR" b="1" dirty="0" err="1" smtClean="0"/>
              <a:t>xyztomfj</a:t>
            </a:r>
            <a:r>
              <a:rPr lang="en-US" altLang="ko-KR" dirty="0" smtClean="0"/>
              <a:t> python code. Note that </a:t>
            </a:r>
            <a:r>
              <a:rPr lang="en-US" altLang="ko-KR" b="1" dirty="0" err="1" smtClean="0"/>
              <a:t>mass.prm</a:t>
            </a:r>
            <a:r>
              <a:rPr lang="en-US" altLang="ko-KR" dirty="0" smtClean="0"/>
              <a:t> and </a:t>
            </a:r>
            <a:r>
              <a:rPr lang="en-US" altLang="ko-KR" b="1" dirty="0" err="1" smtClean="0"/>
              <a:t>vdw.prm</a:t>
            </a:r>
            <a:r>
              <a:rPr lang="en-US" altLang="ko-KR" dirty="0" smtClean="0"/>
              <a:t> must be located in the same directory beforehand.</a:t>
            </a:r>
          </a:p>
          <a:p>
            <a:endParaRPr lang="en-US" altLang="ko-KR" dirty="0"/>
          </a:p>
          <a:p>
            <a:r>
              <a:rPr lang="en-US" altLang="ko-KR" dirty="0" smtClean="0"/>
              <a:t># python </a:t>
            </a:r>
            <a:r>
              <a:rPr lang="en-US" altLang="ko-KR" dirty="0" smtClean="0"/>
              <a:t>xyztomfj_mmff_mmffcharge.py 1_Acridanone.xyz 1_Acridanone.key 1_Acridanone.mfj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2046287"/>
            <a:ext cx="4305300" cy="2486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4374" y="4773215"/>
            <a:ext cx="8811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Verify that the sum of atomic charges and atomic masses are proper. Note that the sum of atomic charges in this example is ~0 (e</a:t>
            </a:r>
            <a:r>
              <a:rPr lang="en-US" altLang="ko-KR" baseline="30000" dirty="0" smtClean="0"/>
              <a:t>-16</a:t>
            </a:r>
            <a:r>
              <a:rPr lang="en-US" altLang="ko-KR" dirty="0" smtClean="0"/>
              <a:t>), although the molecule is a singly protonated ion. This means that the charges were not correctly assigned by the </a:t>
            </a:r>
            <a:r>
              <a:rPr lang="en-US" altLang="ko-KR" b="1" dirty="0" smtClean="0"/>
              <a:t>sdf2tinkerxyz</a:t>
            </a:r>
            <a:r>
              <a:rPr lang="en-US" altLang="ko-KR" dirty="0" smtClean="0"/>
              <a:t> software, and this is because the protonation site was at an oxygen atom. In this case, alternative charges must be used by providing proper charge information to the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mfj</a:t>
            </a:r>
            <a:r>
              <a:rPr lang="en-US" altLang="ko-KR" dirty="0" smtClean="0"/>
              <a:t> file.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30" y="1941115"/>
            <a:ext cx="42862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2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Compile </a:t>
            </a:r>
            <a:r>
              <a:rPr lang="en-US" altLang="ko-KR" dirty="0" err="1" smtClean="0"/>
              <a:t>Mobcal</a:t>
            </a:r>
            <a:r>
              <a:rPr lang="en-US" altLang="ko-KR" dirty="0" smtClean="0"/>
              <a:t> and run. The </a:t>
            </a:r>
            <a:r>
              <a:rPr lang="en-US" altLang="ko-KR" dirty="0" err="1" smtClean="0"/>
              <a:t>Mobcal</a:t>
            </a:r>
            <a:r>
              <a:rPr lang="en-US" altLang="ko-KR" dirty="0" smtClean="0"/>
              <a:t> code has been modified to accept input file name, output file name, random seed number, and scaling factors from the command line.</a:t>
            </a:r>
          </a:p>
          <a:p>
            <a:endParaRPr lang="en-US" altLang="ko-KR" dirty="0"/>
          </a:p>
          <a:p>
            <a:r>
              <a:rPr lang="en-US" altLang="ko-KR" dirty="0" smtClean="0"/>
              <a:t>#f95 mobcal_MMFF_Exp6.f –o </a:t>
            </a:r>
            <a:r>
              <a:rPr lang="en-US" altLang="ko-KR" dirty="0" err="1" smtClean="0"/>
              <a:t>mobcal</a:t>
            </a:r>
            <a:endParaRPr lang="en-US" altLang="ko-KR" dirty="0" smtClean="0"/>
          </a:p>
          <a:p>
            <a:r>
              <a:rPr lang="en-US" altLang="ko-KR" dirty="0" smtClean="0"/>
              <a:t># ./</a:t>
            </a:r>
            <a:r>
              <a:rPr lang="en-US" altLang="ko-KR" dirty="0" err="1" smtClean="0"/>
              <a:t>mobcal</a:t>
            </a:r>
            <a:r>
              <a:rPr lang="en-US" altLang="ko-KR" dirty="0" smtClean="0"/>
              <a:t> 1_Acridanone.mfj 1_Acridanone.out 1000 0.98 </a:t>
            </a:r>
            <a:r>
              <a:rPr lang="en-US" altLang="ko-KR" dirty="0" smtClean="0"/>
              <a:t>0.81</a:t>
            </a:r>
            <a:r>
              <a:rPr lang="en-US" altLang="ko-KR" b="1" i="1" dirty="0" smtClean="0"/>
              <a:t> (for helium)</a:t>
            </a:r>
          </a:p>
          <a:p>
            <a:r>
              <a:rPr lang="en-US" altLang="ko-KR" dirty="0"/>
              <a:t> </a:t>
            </a:r>
            <a:r>
              <a:rPr lang="en-US" altLang="ko-KR" i="1" dirty="0" smtClean="0"/>
              <a:t>or </a:t>
            </a:r>
            <a:r>
              <a:rPr lang="en-US" altLang="ko-KR" dirty="0"/>
              <a:t>./</a:t>
            </a:r>
            <a:r>
              <a:rPr lang="en-US" altLang="ko-KR" dirty="0" err="1"/>
              <a:t>mobcal</a:t>
            </a:r>
            <a:r>
              <a:rPr lang="en-US" altLang="ko-KR" dirty="0"/>
              <a:t> 1_Acridanone.mfj 1_Acridanone.out 1000 </a:t>
            </a:r>
            <a:r>
              <a:rPr lang="en-US" altLang="ko-KR" dirty="0" smtClean="0"/>
              <a:t>0.76 0.86</a:t>
            </a:r>
            <a:r>
              <a:rPr lang="en-US" altLang="ko-KR" b="1" i="1" dirty="0" smtClean="0"/>
              <a:t> </a:t>
            </a:r>
            <a:r>
              <a:rPr lang="en-US" altLang="ko-KR" b="1" i="1" dirty="0"/>
              <a:t>(for </a:t>
            </a:r>
            <a:r>
              <a:rPr lang="en-US" altLang="ko-KR" b="1" i="1" dirty="0" smtClean="0"/>
              <a:t>nitrogen)</a:t>
            </a:r>
            <a:endParaRPr lang="en-US" altLang="ko-KR" b="1" i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659062"/>
            <a:ext cx="4333875" cy="6000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362" y="2518728"/>
            <a:ext cx="4333875" cy="1000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" y="3659187"/>
            <a:ext cx="8572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The scaling factors, 0.98 and 0.81, are from Table S9 of </a:t>
            </a:r>
            <a:r>
              <a:rPr lang="en-US" altLang="ko-KR" dirty="0" smtClean="0"/>
              <a:t>the helium </a:t>
            </a:r>
            <a:r>
              <a:rPr lang="en-US" altLang="ko-KR" dirty="0" smtClean="0"/>
              <a:t>publication (Exp-6 with optimized MMFF parameters</a:t>
            </a:r>
            <a:r>
              <a:rPr lang="en-US" altLang="ko-KR" dirty="0" smtClean="0"/>
              <a:t>). The scaling factor 0.76 and 0.86 is from Table S2 of the nitrogen publication.</a:t>
            </a: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It is recommended to repeat the calculations at least three times using different scaling </a:t>
            </a:r>
            <a:r>
              <a:rPr lang="en-US" altLang="ko-KR" dirty="0" smtClean="0"/>
              <a:t>factors (1000 in the example above) </a:t>
            </a:r>
            <a:r>
              <a:rPr lang="en-US" altLang="ko-KR" dirty="0" smtClean="0"/>
              <a:t>and average the results.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An </a:t>
            </a:r>
            <a:r>
              <a:rPr lang="en-US" altLang="ko-KR" i="1" dirty="0" smtClean="0"/>
              <a:t>imp</a:t>
            </a:r>
            <a:r>
              <a:rPr lang="en-US" altLang="ko-KR" dirty="0" smtClean="0"/>
              <a:t> value of 100 for calculations gives high precision (&lt;1% relative deviation) for most systems, but can be reduced or increased if necessary.</a:t>
            </a:r>
          </a:p>
        </p:txBody>
      </p:sp>
    </p:spTree>
    <p:extLst>
      <p:ext uri="{BB962C8B-B14F-4D97-AF65-F5344CB8AC3E}">
        <p14:creationId xmlns:p14="http://schemas.microsoft.com/office/powerpoint/2010/main" val="344812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@ “Atom type” and “atom type group” (arbitrary terminology in this PPT file)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14" y="1159033"/>
            <a:ext cx="4171950" cy="2686050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 flipV="1">
            <a:off x="8040689" y="3632358"/>
            <a:ext cx="12700" cy="4690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7723696" y="1268173"/>
            <a:ext cx="418593" cy="2576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408209" y="3866871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.xyz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6623" y="4051537"/>
            <a:ext cx="136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“atom type”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63" y="1165541"/>
            <a:ext cx="4581525" cy="266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66065" y="4051537"/>
            <a:ext cx="197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“atom type </a:t>
            </a:r>
            <a:r>
              <a:rPr lang="en-US" altLang="ko-KR" b="1" i="1" dirty="0" smtClean="0">
                <a:solidFill>
                  <a:srgbClr val="0070C0"/>
                </a:solidFill>
              </a:rPr>
              <a:t>group</a:t>
            </a:r>
            <a:r>
              <a:rPr lang="en-US" altLang="ko-KR" b="1" dirty="0" smtClean="0">
                <a:solidFill>
                  <a:srgbClr val="0070C0"/>
                </a:solidFill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2" y="4051537"/>
            <a:ext cx="136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“atom type”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45729" y="1188679"/>
            <a:ext cx="259883" cy="26564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 flipV="1">
            <a:off x="778124" y="3713797"/>
            <a:ext cx="111896" cy="3815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1255782" y="1182408"/>
            <a:ext cx="316993" cy="265640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 flipH="1" flipV="1">
            <a:off x="1604775" y="3724651"/>
            <a:ext cx="254289" cy="35984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38785" y="386060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mass.prm</a:t>
            </a:r>
            <a:endParaRPr lang="en-US" altLang="ko-KR" b="1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221780" y="4450634"/>
            <a:ext cx="8769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A number of atoms with different atom types can belong to the same atom type </a:t>
            </a:r>
            <a:r>
              <a:rPr lang="en-US" altLang="ko-KR" i="1" u="sng" dirty="0" smtClean="0"/>
              <a:t>group</a:t>
            </a:r>
            <a:r>
              <a:rPr lang="en-US" altLang="ko-KR" dirty="0" smtClean="0"/>
              <a:t>. For example, in the </a:t>
            </a:r>
            <a:r>
              <a:rPr lang="en-US" altLang="ko-KR" b="1" dirty="0" err="1" smtClean="0"/>
              <a:t>mass.prm</a:t>
            </a:r>
            <a:r>
              <a:rPr lang="en-US" altLang="ko-KR" dirty="0" smtClean="0"/>
              <a:t> file, it can be seen that “H attached to C” and “H attached to Si” are assigned atom types of 23 and 24, respectively, although they belong to the same atom type </a:t>
            </a:r>
            <a:r>
              <a:rPr lang="en-US" altLang="ko-KR" i="1" u="sng" dirty="0" smtClean="0"/>
              <a:t>group</a:t>
            </a:r>
            <a:r>
              <a:rPr lang="en-US" altLang="ko-KR" dirty="0" smtClean="0"/>
              <a:t> (“5”). </a:t>
            </a:r>
            <a:r>
              <a:rPr lang="en-US" altLang="ko-KR" dirty="0" err="1" smtClean="0"/>
              <a:t>Vdw</a:t>
            </a:r>
            <a:r>
              <a:rPr lang="en-US" altLang="ko-KR" dirty="0" smtClean="0"/>
              <a:t> parameters are assigned following atom type group.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Note that the </a:t>
            </a:r>
            <a:r>
              <a:rPr lang="en-US" altLang="ko-KR" b="1" dirty="0" smtClean="0"/>
              <a:t>.xyz </a:t>
            </a:r>
            <a:r>
              <a:rPr lang="en-US" altLang="ko-KR" dirty="0" smtClean="0"/>
              <a:t>file from the </a:t>
            </a:r>
            <a:r>
              <a:rPr lang="en-US" altLang="ko-KR" b="1" dirty="0" smtClean="0"/>
              <a:t>sdf2tinkerxyz</a:t>
            </a:r>
            <a:r>
              <a:rPr lang="en-US" altLang="ko-KR" dirty="0" smtClean="0"/>
              <a:t> software has the “atom type” information rather than “atom type </a:t>
            </a:r>
            <a:r>
              <a:rPr lang="en-US" altLang="ko-KR" i="1" dirty="0" smtClean="0"/>
              <a:t>group</a:t>
            </a:r>
            <a:r>
              <a:rPr lang="en-US" altLang="ko-KR" dirty="0" smtClean="0"/>
              <a:t>”</a:t>
            </a:r>
            <a:r>
              <a:rPr lang="en-US" altLang="ko-KR" i="1" dirty="0" smtClean="0"/>
              <a:t> </a:t>
            </a:r>
            <a:r>
              <a:rPr lang="en-US" altLang="ko-KR" dirty="0" smtClean="0"/>
              <a:t>information. Therefore, the </a:t>
            </a:r>
            <a:r>
              <a:rPr lang="en-US" altLang="ko-KR" b="1" dirty="0" smtClean="0"/>
              <a:t>xyztomfj.py</a:t>
            </a:r>
            <a:r>
              <a:rPr lang="en-US" altLang="ko-KR" dirty="0" smtClean="0"/>
              <a:t> code reads the </a:t>
            </a:r>
            <a:r>
              <a:rPr lang="en-US" altLang="ko-KR" b="1" dirty="0" err="1" smtClean="0"/>
              <a:t>mass.prm</a:t>
            </a:r>
            <a:r>
              <a:rPr lang="en-US" altLang="ko-KR" dirty="0" smtClean="0"/>
              <a:t> file to assign atom type </a:t>
            </a:r>
            <a:r>
              <a:rPr lang="en-US" altLang="ko-KR" i="1" dirty="0" smtClean="0"/>
              <a:t>groups</a:t>
            </a:r>
            <a:r>
              <a:rPr lang="en-US" altLang="ko-KR" dirty="0" smtClean="0"/>
              <a:t>, and assigns </a:t>
            </a:r>
            <a:r>
              <a:rPr lang="en-US" altLang="ko-KR" dirty="0" err="1" smtClean="0"/>
              <a:t>vdw</a:t>
            </a:r>
            <a:r>
              <a:rPr lang="en-US" altLang="ko-KR" dirty="0" smtClean="0"/>
              <a:t> parameters based on the information.</a:t>
            </a:r>
          </a:p>
        </p:txBody>
      </p:sp>
    </p:spTree>
    <p:extLst>
      <p:ext uri="{BB962C8B-B14F-4D97-AF65-F5344CB8AC3E}">
        <p14:creationId xmlns:p14="http://schemas.microsoft.com/office/powerpoint/2010/main" val="68238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@ the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mfj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file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004333"/>
            <a:ext cx="4953000" cy="2667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1780" y="3866833"/>
            <a:ext cx="8769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The original </a:t>
            </a:r>
            <a:r>
              <a:rPr lang="en-US" altLang="ko-KR" b="1" dirty="0" err="1" smtClean="0"/>
              <a:t>Mobcal</a:t>
            </a:r>
            <a:r>
              <a:rPr lang="en-US" altLang="ko-KR" dirty="0" smtClean="0"/>
              <a:t> code requires five information for an atom, which are: x coordinate, y coordinate, z coordinate, mass, and charge. In the modified code, four additional </a:t>
            </a:r>
            <a:r>
              <a:rPr lang="en-US" altLang="ko-KR" dirty="0" err="1" smtClean="0"/>
              <a:t>vdw</a:t>
            </a:r>
            <a:r>
              <a:rPr lang="en-US" altLang="ko-KR" dirty="0" smtClean="0"/>
              <a:t> parameters (</a:t>
            </a:r>
            <a:r>
              <a:rPr lang="el-GR" altLang="ko-KR" i="1" dirty="0" smtClean="0"/>
              <a:t>α</a:t>
            </a:r>
            <a:r>
              <a:rPr lang="en-US" altLang="ko-KR" i="1" baseline="-25000" dirty="0" err="1" smtClean="0"/>
              <a:t>i</a:t>
            </a:r>
            <a:r>
              <a:rPr lang="en-US" altLang="ko-KR" dirty="0" smtClean="0"/>
              <a:t>, </a:t>
            </a:r>
            <a:r>
              <a:rPr lang="en-US" altLang="ko-KR" i="1" dirty="0" smtClean="0"/>
              <a:t>N</a:t>
            </a:r>
            <a:r>
              <a:rPr lang="en-US" altLang="ko-KR" i="1" baseline="-25000" dirty="0" smtClean="0"/>
              <a:t>i</a:t>
            </a:r>
            <a:r>
              <a:rPr lang="en-US" altLang="ko-KR" dirty="0" smtClean="0"/>
              <a:t>, </a:t>
            </a:r>
            <a:r>
              <a:rPr lang="en-US" altLang="ko-KR" i="1" dirty="0" smtClean="0"/>
              <a:t>A</a:t>
            </a:r>
            <a:r>
              <a:rPr lang="en-US" altLang="ko-KR" i="1" baseline="-25000" dirty="0" smtClean="0"/>
              <a:t>i</a:t>
            </a:r>
            <a:r>
              <a:rPr lang="en-US" altLang="ko-KR" dirty="0" smtClean="0"/>
              <a:t>, and </a:t>
            </a:r>
            <a:r>
              <a:rPr lang="en-US" altLang="ko-KR" i="1" dirty="0" err="1" smtClean="0"/>
              <a:t>G</a:t>
            </a:r>
            <a:r>
              <a:rPr lang="en-US" altLang="ko-KR" i="1" baseline="-25000" dirty="0" err="1" smtClean="0"/>
              <a:t>i</a:t>
            </a:r>
            <a:r>
              <a:rPr lang="en-US" altLang="ko-KR" dirty="0" smtClean="0"/>
              <a:t>) need to be provided for each atom. This is done by the </a:t>
            </a:r>
            <a:r>
              <a:rPr lang="en-US" altLang="ko-KR" b="1" dirty="0" err="1" smtClean="0"/>
              <a:t>xyztomfj</a:t>
            </a:r>
            <a:r>
              <a:rPr lang="en-US" altLang="ko-KR" dirty="0" smtClean="0"/>
              <a:t> code, but manual verification is always recommended.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615542" y="1661498"/>
            <a:ext cx="1599511" cy="20167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5673213" y="1273766"/>
            <a:ext cx="380783" cy="365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36453" y="916529"/>
            <a:ext cx="2399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MMFF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vdw</a:t>
            </a:r>
            <a:r>
              <a:rPr lang="en-US" altLang="ko-KR" b="1" dirty="0" smtClean="0">
                <a:solidFill>
                  <a:srgbClr val="FF0000"/>
                </a:solidFill>
              </a:rPr>
              <a:t> parameters</a:t>
            </a:r>
          </a:p>
        </p:txBody>
      </p:sp>
    </p:spTree>
    <p:extLst>
      <p:ext uri="{BB962C8B-B14F-4D97-AF65-F5344CB8AC3E}">
        <p14:creationId xmlns:p14="http://schemas.microsoft.com/office/powerpoint/2010/main" val="169543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@ Partial charges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780" y="1187133"/>
            <a:ext cx="8769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In case charge is incorrectly assigned by the </a:t>
            </a:r>
            <a:r>
              <a:rPr lang="en-US" altLang="ko-KR" b="1" dirty="0" err="1" smtClean="0"/>
              <a:t>xyztomfj</a:t>
            </a:r>
            <a:r>
              <a:rPr lang="en-US" altLang="ko-KR" dirty="0" smtClean="0"/>
              <a:t> software, proper charges need to be supplied by the user</a:t>
            </a:r>
            <a:r>
              <a:rPr lang="en-US" altLang="ko-KR" dirty="0" smtClean="0"/>
              <a:t>. See related publications.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9100" y="2334459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@ Multiple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780" y="2703791"/>
            <a:ext cx="8769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Be </a:t>
            </a:r>
            <a:r>
              <a:rPr lang="en-US" altLang="ko-KR" dirty="0" smtClean="0"/>
              <a:t>cautious</a:t>
            </a:r>
            <a:r>
              <a:rPr lang="en-US" altLang="ko-KR" dirty="0" smtClean="0"/>
              <a:t> </a:t>
            </a:r>
            <a:r>
              <a:rPr lang="en-US" altLang="ko-KR" dirty="0" smtClean="0"/>
              <a:t>when using an 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mfj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file with multiple coordinates inside, because </a:t>
            </a:r>
            <a:r>
              <a:rPr lang="en-US" altLang="ko-KR" dirty="0" smtClean="0"/>
              <a:t>verification </a:t>
            </a:r>
            <a:r>
              <a:rPr lang="en-US" altLang="ko-KR" dirty="0" smtClean="0"/>
              <a:t>has not been performed extensively for such use.</a:t>
            </a:r>
          </a:p>
        </p:txBody>
      </p:sp>
    </p:spTree>
    <p:extLst>
      <p:ext uri="{BB962C8B-B14F-4D97-AF65-F5344CB8AC3E}">
        <p14:creationId xmlns:p14="http://schemas.microsoft.com/office/powerpoint/2010/main" val="347132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19100" y="533400"/>
            <a:ext cx="8572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Summary of commands: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en-US" altLang="ko-KR" dirty="0" err="1"/>
              <a:t>obabel</a:t>
            </a:r>
            <a:r>
              <a:rPr lang="en-US" altLang="ko-KR" dirty="0"/>
              <a:t> –imol2 1_Acridanone.mol2 -</a:t>
            </a:r>
            <a:r>
              <a:rPr lang="en-US" altLang="ko-KR" dirty="0" err="1"/>
              <a:t>osdf</a:t>
            </a:r>
            <a:r>
              <a:rPr lang="en-US" altLang="ko-KR" dirty="0"/>
              <a:t> </a:t>
            </a:r>
            <a:r>
              <a:rPr lang="en-US" altLang="ko-KR" dirty="0" smtClean="0"/>
              <a:t>–m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# </a:t>
            </a:r>
            <a:r>
              <a:rPr lang="en-US" altLang="ko-KR" dirty="0"/>
              <a:t>sdf2tinkerxyz &lt; </a:t>
            </a:r>
            <a:r>
              <a:rPr lang="en-US" altLang="ko-KR" dirty="0" smtClean="0"/>
              <a:t>1_Acridanone.sdf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# python </a:t>
            </a:r>
            <a:r>
              <a:rPr lang="en-US" altLang="ko-KR" dirty="0"/>
              <a:t>xyztomfj_mmff_mmffcharge.py 1_Acridanone.xyz 1_Acridanone.key </a:t>
            </a:r>
            <a:r>
              <a:rPr lang="en-US" altLang="ko-KR" dirty="0" smtClean="0"/>
              <a:t>1_Acridanone.mfj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# f95 </a:t>
            </a:r>
            <a:r>
              <a:rPr lang="en-US" altLang="ko-KR" dirty="0"/>
              <a:t>mobcal_MMFF_Exp6.f –o </a:t>
            </a:r>
            <a:r>
              <a:rPr lang="en-US" altLang="ko-KR" dirty="0" err="1"/>
              <a:t>mobcal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# </a:t>
            </a:r>
            <a:r>
              <a:rPr lang="en-US" altLang="ko-KR" dirty="0"/>
              <a:t>./</a:t>
            </a:r>
            <a:r>
              <a:rPr lang="en-US" altLang="ko-KR" dirty="0" err="1"/>
              <a:t>mobcal</a:t>
            </a:r>
            <a:r>
              <a:rPr lang="en-US" altLang="ko-KR" dirty="0"/>
              <a:t> 1_Acridanone.mfj 1_Acridanone.out 1000 0.98 </a:t>
            </a:r>
            <a:r>
              <a:rPr lang="en-US" altLang="ko-KR" dirty="0" smtClean="0"/>
              <a:t>0.81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6057900" y="6324600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Jong </a:t>
            </a:r>
            <a:r>
              <a:rPr lang="en-US" altLang="ko-KR" dirty="0" err="1" smtClean="0"/>
              <a:t>Wha</a:t>
            </a:r>
            <a:r>
              <a:rPr lang="en-US" altLang="ko-KR" dirty="0" smtClean="0"/>
              <a:t> Lee, Mar 15 2018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1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791</Words>
  <Application>Microsoft Office PowerPoint</Application>
  <PresentationFormat>화면 슬라이드 쇼(4:3)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JWLee</dc:creator>
  <cp:lastModifiedBy>JWLee</cp:lastModifiedBy>
  <cp:revision>96</cp:revision>
  <dcterms:created xsi:type="dcterms:W3CDTF">2017-04-14T05:37:15Z</dcterms:created>
  <dcterms:modified xsi:type="dcterms:W3CDTF">2018-03-15T14:22:48Z</dcterms:modified>
</cp:coreProperties>
</file>